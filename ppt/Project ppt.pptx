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eue Haas Grotesk Text Pro" panose="020B0504020202020204" pitchFamily="34" charset="0"/>
      <p:regular r:id="rId17"/>
      <p:bold r:id="rId18"/>
      <p:italic r:id="rId19"/>
      <p:boldItalic r:id="rId20"/>
    </p:embeddedFont>
    <p:embeddedFont>
      <p:font typeface="Red Hat Display Bold" panose="020B0604020202020204" charset="0"/>
      <p:regular r:id="rId21"/>
    </p:embeddedFont>
    <p:embeddedFont>
      <p:font typeface="Red Hat Display SemiBold" panose="020B0604020202020204" charset="0"/>
      <p:regular r:id="rId22"/>
    </p:embeddedFont>
    <p:embeddedFont>
      <p:font typeface="Red Hat Text" panose="020B0604020202020204" charset="0"/>
      <p:regular r:id="rId23"/>
    </p:embeddedFont>
    <p:embeddedFont>
      <p:font typeface="Red Hat Text Bold" panose="020B0604020202020204" charset="0"/>
      <p:regular r:id="rId24"/>
    </p:embeddedFont>
    <p:embeddedFont>
      <p:font typeface="Red Hat Text Medium" panose="020B0604020202020204" charset="0"/>
      <p:regular r:id="rId25"/>
    </p:embeddedFont>
    <p:embeddedFont>
      <p:font typeface="Roboto Slab Medium" pitchFamily="2" charset="0"/>
      <p:regular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54BA1D-D706-48AD-B5F0-AFD95EF64919}" v="5" dt="2026-10-15T21:32:59.984"/>
    <p1510:client id="{59D50797-05C9-4B50-9039-E593595B349C}" v="49" dt="2026-10-15T22:27:44.473"/>
    <p1510:client id="{E41AF5F6-323A-429F-A044-527A80726E9C}" v="11" dt="2026-10-16T08:40:32.1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24DC98-3347-48FD-A487-A7C628ADBF5C}" type="datetimeFigureOut"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280C64-89C8-44B6-99E1-BAA3979B329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53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TaskBoard capstone project: taking raw application source through automated verification, packaging, and GitOps-driven deployment into Kubernetes.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code functionality is only half the battle. Emphasize automation, repeatability, traceability, and consistency across both frontend and backend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the strict separation: GitHub Actions validates and deploys to its workflow's temporary Kind cluster; Argo CD reconciles Git state in the distinct local Kind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distinct roles of the frontend, backend, and delivery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multi-stage build pattern: Node is discarded after building frontend assets; Nginx Alpine serves them; Python slim runs backend; GHCR uses commit SHA tags for absolute provenance.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DevSecOps principles are applied in practice: tests run first, security scans gate image creation, Trivy scans built images, and only clean builds proceed to ephemeral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Kubernetes resources managed by the Helm chart. Clarify that optional chart configuration is not claimed as enabled: Ingress, Horizontal Pod Autoscaling, and Prometheus ServiceMonitor.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GitOps reconciliation: Git is the source of desired state, Argo CD compares it with the live cluster, and the Argo CD Kind cluster is separate from the CI workflow's temporary cluster.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evidence gallery clearly: the three task-board states show the To Do, In Progress and Completed frames; the pytest result and the API health check are shown in the lower row without fabricating log text or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an honest engineering evaluation: summarize technical hurdles solved during networking and templating, clearly delineate verified scope vs. future cloud extensions, and wrap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359139-99F8-4B6E-8834-95F2B9D91EE4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212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65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79FB602-DB7A-4B0E-854D-FB51F38BB0AA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65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1560963-1EEA-4BDE-8FF9-3FEE13B5D43C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873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1006E0F-42A5-451E-8A36-26756F7C34E0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289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922ABD-C052-4D3A-818B-C58AFC20B321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99290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48FC9B1-6F61-4A8F-9F5E-715654075A93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4181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BE14B8-5058-4271-B378-2217DE83796E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40998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6CB2F34-49A1-4C07-91D5-90BE967306D3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8985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4EE7FE5-A250-423F-B9E1-3EE5D07A8055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282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48B2456C-66BE-435E-8059-3A9CD55F29F9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47851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7409D93-5111-4952-AC4F-FA1AE909A4B8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771041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43E10B2-AFF3-4A4A-BC83-5BB137C878CB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54586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C1935215-257D-4F50-AF56-70E3294947FA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/>
            <a:ahLst/>
            <a:cxnLst/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20085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2B0E3CDF-6E7C-4C67-B567-8606B07963A0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26468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060FE60-4389-4D8B-84BB-900FC000024C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4638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6709B22-BFE8-4BFE-80D5-4133DC0C2AC6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41852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BFCE55E5-7E1C-4243-A685-91A6EB8BE97F}" type="datetimeFigureOut">
              <a:rPr lang="en-US" dirty="0"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8E274F5D-21DC-40EF-8DBA-AB9BB119E939}" type="slidenum">
              <a:rPr lang="en-US" dirty="0"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90300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AFD96D-C3CB-4F44-8CE3-582861660F11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898733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332489-DC9C-40A3-89C4-AFC56B3B0CAB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784682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403F4C9-1C82-4616-8D26-0B0587291200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2016995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38C42AE-61C6-458B-86C3-22D39A5E8956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1655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3D71BEE-9C65-4D84-970B-0B47E929926B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7426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9AFCF02-D35E-46A4-B7A1-1A2B81F8D932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1355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A57AF51-4D04-4E0C-B33D-81940CAB4B07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0137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ABFCF2-BE01-43CB-85B3-49CC0FE55050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00489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119A0F5-9D15-4E68-95BA-31AD4F5D84D0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63620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D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2115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32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622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F288AF9F-2338-4040-A485-373B8EC8151E}" type="datetimeFigureOut">
              <a:rPr lang="en-US" dirty="0"/>
              <a:pPr/>
              <a:t>10/16/2026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516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534187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8534187" cy="6858000"/>
          </a:xfrm>
          <a:prstGeom prst="rect">
            <a:avLst/>
          </a:prstGeom>
          <a:solidFill>
            <a:srgbClr val="1E1E23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660383" y="616585"/>
            <a:ext cx="7873803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DEVOPS &amp; DEVSECOPS CAPSTONE PROJECT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0383" y="4093766"/>
            <a:ext cx="7289618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600" b="1" kern="100" spc="-112" dirty="0">
                <a:solidFill>
                  <a:srgbClr val="F5F5F7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MinePulse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660383" y="4924883"/>
            <a:ext cx="7289618" cy="642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From Application Code to Automated Kubernetes Deployment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60383" y="5695633"/>
            <a:ext cx="7873803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Automating application delivery with CI/CD, Docker, Kubernetes, Helm and Argo CD.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0383" y="6115923"/>
            <a:ext cx="7873803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Manthan Kalra · Roll No. 24bcs10478 · Batch 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534187" y="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1371600"/>
                </a:lnTo>
                <a:lnTo>
                  <a:pt x="609585" y="1371600"/>
                </a:lnTo>
                <a:arcTo wR="609585" hR="609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9753356" y="0"/>
            <a:ext cx="1219170" cy="1371600"/>
          </a:xfrm>
          <a:prstGeom prst="rect">
            <a:avLst/>
          </a:pr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10972526" y="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609585" y="0"/>
                </a:lnTo>
                <a:arcTo wR="609585" hR="609600" stAng="16200000" swAng="5400000"/>
                <a:lnTo>
                  <a:pt x="121917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0"/>
          <p:cNvSpPr/>
          <p:nvPr/>
        </p:nvSpPr>
        <p:spPr>
          <a:xfrm>
            <a:off x="8534187" y="1371600"/>
            <a:ext cx="1219170" cy="1371600"/>
          </a:xfrm>
          <a:prstGeom prst="rect">
            <a:avLst/>
          </a:pr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9753356" y="1371600"/>
            <a:ext cx="1219170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10972526" y="1371600"/>
            <a:ext cx="1219170" cy="1371600"/>
          </a:xfrm>
          <a:prstGeom prst="rect">
            <a:avLst/>
          </a:pr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3"/>
          <p:cNvSpPr/>
          <p:nvPr/>
        </p:nvSpPr>
        <p:spPr>
          <a:xfrm>
            <a:off x="8534187" y="27432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609585" y="0"/>
                </a:moveTo>
                <a:lnTo>
                  <a:pt x="1219170" y="0"/>
                </a:lnTo>
                <a:lnTo>
                  <a:pt x="1219170" y="1371600"/>
                </a:lnTo>
                <a:lnTo>
                  <a:pt x="0" y="1371600"/>
                </a:lnTo>
                <a:lnTo>
                  <a:pt x="0" y="609600"/>
                </a:lnTo>
                <a:arcTo wR="609585" hR="609600" stAng="10800000" swAng="5400000"/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9753356" y="2743200"/>
            <a:ext cx="1219170" cy="1371600"/>
          </a:xfrm>
          <a:prstGeom prst="rect">
            <a:avLst/>
          </a:pr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5"/>
          <p:cNvSpPr/>
          <p:nvPr/>
        </p:nvSpPr>
        <p:spPr>
          <a:xfrm>
            <a:off x="10972526" y="27432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762000"/>
                </a:lnTo>
                <a:arcTo wR="609585" hR="609600" stAng="0" swAng="5400000"/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8534187" y="4114800"/>
            <a:ext cx="1219170" cy="1371600"/>
          </a:xfrm>
          <a:prstGeom prst="rect">
            <a:avLst/>
          </a:pr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9753356" y="41148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762000"/>
                </a:lnTo>
                <a:arcTo wR="609585" hR="609600" stAng="0" swAng="5400000"/>
                <a:lnTo>
                  <a:pt x="609585" y="1371600"/>
                </a:lnTo>
                <a:arcTo wR="609585" hR="609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10972526" y="4114800"/>
            <a:ext cx="1219170" cy="13716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8534187" y="54864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609585" y="0"/>
                </a:lnTo>
                <a:arcTo wR="609585" hR="609600" stAng="16200000" swAng="5400000"/>
                <a:lnTo>
                  <a:pt x="1219170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9753356" y="5486400"/>
            <a:ext cx="1219170" cy="1371600"/>
          </a:xfrm>
          <a:custGeom>
            <a:avLst/>
            <a:gdLst/>
            <a:ahLst/>
            <a:cxnLst/>
            <a:rect l="l" t="t" r="r" b="b"/>
            <a:pathLst>
              <a:path w="1219170" h="1371600">
                <a:moveTo>
                  <a:pt x="0" y="0"/>
                </a:moveTo>
                <a:lnTo>
                  <a:pt x="1219170" y="0"/>
                </a:lnTo>
                <a:lnTo>
                  <a:pt x="1219170" y="1371600"/>
                </a:lnTo>
                <a:lnTo>
                  <a:pt x="609585" y="1371600"/>
                </a:lnTo>
                <a:arcTo wR="609585" hR="609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1"/>
          <p:cNvSpPr/>
          <p:nvPr/>
        </p:nvSpPr>
        <p:spPr>
          <a:xfrm>
            <a:off x="10972526" y="5486400"/>
            <a:ext cx="1219170" cy="1371600"/>
          </a:xfrm>
          <a:prstGeom prst="rect">
            <a:avLst/>
          </a:pr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64185"/>
            <a:ext cx="4775081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PROJECT FOUNDATION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50503"/>
            <a:ext cx="4368691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2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Delivery is more than writing the application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730573"/>
            <a:ext cx="1066773" cy="76200"/>
          </a:xfrm>
          <a:prstGeom prst="roundRect">
            <a:avLst>
              <a:gd name="adj" fmla="val 4999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7987" y="2032198"/>
            <a:ext cx="4368691" cy="1853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>
                <a:solidFill>
                  <a:srgbClr val="F5F5F7"/>
                </a:solidFill>
              </a:rPr>
              <a:t>MinePulse is a full-stack task and release management application. While CRUD functionality completes the software contract, production delivery also requires reliable packaging, policy checks, orchestration manifests, and runtime verification.</a:t>
            </a:r>
          </a:p>
          <a:p>
            <a:r>
              <a:rPr>
                <a:solidFill>
                  <a:srgbClr val="F5F5F7"/>
                </a:solidFill>
              </a:rPr>
              <a:t>A developer commit must survive rigorous packaging, policy enforcement, orchestration manifests, and automated runtime reconciliation before it is fit for users.</a:t>
            </a:r>
          </a:p>
        </p:txBody>
      </p:sp>
      <p:sp>
        <p:nvSpPr>
          <p:cNvPr id="6" name="Shape 4"/>
          <p:cNvSpPr/>
          <p:nvPr/>
        </p:nvSpPr>
        <p:spPr>
          <a:xfrm>
            <a:off x="507987" y="5956697"/>
            <a:ext cx="4368691" cy="31651"/>
          </a:xfrm>
          <a:prstGeom prst="roundRect">
            <a:avLst>
              <a:gd name="adj" fmla="val 49998"/>
            </a:avLst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7987" y="6217523"/>
            <a:ext cx="477508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MinePulse Capstone Architecture Review · System 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89458" y="406400"/>
            <a:ext cx="5994250" cy="2176562"/>
          </a:xfrm>
          <a:custGeom>
            <a:avLst/>
            <a:gdLst/>
            <a:ahLst/>
            <a:cxnLst/>
            <a:rect l="l" t="t" r="r" b="b"/>
            <a:pathLst>
              <a:path w="5994250" h="2176562">
                <a:moveTo>
                  <a:pt x="0" y="0"/>
                </a:moveTo>
                <a:lnTo>
                  <a:pt x="5638659" y="0"/>
                </a:lnTo>
                <a:arcTo wR="355591" hR="355600" stAng="16200000" swAng="5400000"/>
                <a:lnTo>
                  <a:pt x="5994250" y="2176562"/>
                </a:lnTo>
                <a:lnTo>
                  <a:pt x="0" y="2176562"/>
                </a:lnTo>
                <a:lnTo>
                  <a:pt x="0" y="0"/>
                </a:lnTo>
                <a:close/>
              </a:path>
            </a:pathLst>
          </a:cu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943451" y="616585"/>
            <a:ext cx="5740256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THE ENGINEERING CHALLENGE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451" y="882006"/>
            <a:ext cx="548626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Operational Friction in Manual Delivery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943451" y="1278315"/>
            <a:ext cx="548626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Eliminating manual interventions, configuration drift between environments, untracked artifact builds, and late-discovered vulnerabilities through declarative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89458" y="2887762"/>
            <a:ext cx="5994250" cy="3563838"/>
          </a:xfrm>
          <a:prstGeom prst="rect">
            <a:avLst/>
          </a:prstGeom>
          <a:noFill/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9801" y="3104297"/>
            <a:ext cx="5733907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CORE PROJECT PILLARS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9801" y="3468143"/>
            <a:ext cx="266048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Automation &amp; Tests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9801" y="3864451"/>
            <a:ext cx="2660484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Continuous testing and security validation wired to every commit via GitHub Actions.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62682" y="3468143"/>
            <a:ext cx="266058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Portability &amp; Images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762682" y="3864451"/>
            <a:ext cx="266058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Isolated multi-stage container builds published to GHCR with deterministic commit SHAs.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9801" y="4744195"/>
            <a:ext cx="2660484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Declarative Charts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9801" y="5140504"/>
            <a:ext cx="2660484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Helm packaging to structure deployments, services, namespaces, and PVC manifests.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62682" y="4744195"/>
            <a:ext cx="266058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GitOps Alignment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762682" y="5140504"/>
            <a:ext cx="2660583" cy="7179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Continuous state synchronization and automated drift reconciliation using Argo CD.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276718" y="0"/>
            <a:ext cx="12700" cy="6858000"/>
          </a:xfrm>
          <a:prstGeom prst="rect">
            <a:avLst/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1873806" y="6465689"/>
            <a:ext cx="317889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13385"/>
            <a:ext cx="116837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ARCHITECTURE TOPOLOGY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99703"/>
            <a:ext cx="111757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2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Two flows: request path and delivery path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248172"/>
            <a:ext cx="5435464" cy="3797102"/>
          </a:xfrm>
          <a:custGeom>
            <a:avLst/>
            <a:gdLst/>
            <a:ahLst/>
            <a:cxnLst/>
            <a:rect l="l" t="t" r="r" b="b"/>
            <a:pathLst>
              <a:path w="5435464" h="3797102">
                <a:moveTo>
                  <a:pt x="0" y="0"/>
                </a:moveTo>
                <a:lnTo>
                  <a:pt x="5079873" y="0"/>
                </a:lnTo>
                <a:arcTo wR="355591" hR="355600" stAng="16200000" swAng="5400000"/>
                <a:lnTo>
                  <a:pt x="5435464" y="3797102"/>
                </a:lnTo>
                <a:lnTo>
                  <a:pt x="0" y="3797102"/>
                </a:lnTo>
                <a:lnTo>
                  <a:pt x="0" y="0"/>
                </a:lnTo>
                <a:close/>
              </a:path>
            </a:pathLst>
          </a:cu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61981" y="1509157"/>
            <a:ext cx="518147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RUNTIME · REQUEST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1981" y="1779847"/>
            <a:ext cx="492747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From browser to database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981" y="2227263"/>
            <a:ext cx="492747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User/browser → React frontend on Nginx → /api reverse proxy → FastAPI backend → PostgreSQL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1981" y="2899251"/>
            <a:ext cx="518147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Alembic migrations · Frontend and backend separately containerized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48244" y="1248172"/>
            <a:ext cx="5435464" cy="3797102"/>
          </a:xfrm>
          <a:custGeom>
            <a:avLst/>
            <a:gdLst/>
            <a:ahLst/>
            <a:cxnLst/>
            <a:rect l="l" t="t" r="r" b="b"/>
            <a:pathLst>
              <a:path w="5435464" h="3797102">
                <a:moveTo>
                  <a:pt x="0" y="0"/>
                </a:moveTo>
                <a:lnTo>
                  <a:pt x="5435464" y="0"/>
                </a:lnTo>
                <a:lnTo>
                  <a:pt x="5435464" y="3797102"/>
                </a:lnTo>
                <a:lnTo>
                  <a:pt x="355591" y="3797102"/>
                </a:lnTo>
                <a:arcTo wR="355591" hR="35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502237" y="1509157"/>
            <a:ext cx="518147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DELIVERY · TWO DISTINCT CLUSTERS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02237" y="1779847"/>
            <a:ext cx="492747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CI workflow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2237" y="2227263"/>
            <a:ext cx="4927477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Developer → GitHub repository → GitHub Actions → tests and security checks → Docker builds → GHCR → Helm → workflow's temporary Kind cluster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502237" y="3216275"/>
            <a:ext cx="4927378" cy="31651"/>
          </a:xfrm>
          <a:prstGeom prst="roundRect">
            <a:avLst>
              <a:gd name="adj" fmla="val 49998"/>
            </a:avLst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502237" y="3488592"/>
            <a:ext cx="4927477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20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GitOps path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502237" y="3936008"/>
            <a:ext cx="492747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repository + Helm chart → Argo CD → local Kind cluster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2237" y="4607997"/>
            <a:ext cx="518147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Actions never deploys into the local cluster.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875195" y="6465689"/>
            <a:ext cx="316500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8016"/>
            <a:ext cx="11683708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SYSTEM COMPOSITION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14366"/>
            <a:ext cx="11175720" cy="37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50" b="1" kern="100" spc="-41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A layered stack, each tool with one job</a:t>
            </a:r>
            <a:endParaRPr lang="en-US" sz="2750" dirty="0"/>
          </a:p>
        </p:txBody>
      </p:sp>
      <p:sp>
        <p:nvSpPr>
          <p:cNvPr id="4" name="Shape 2"/>
          <p:cNvSpPr/>
          <p:nvPr/>
        </p:nvSpPr>
        <p:spPr>
          <a:xfrm>
            <a:off x="507987" y="1151434"/>
            <a:ext cx="3521979" cy="2749848"/>
          </a:xfrm>
          <a:custGeom>
            <a:avLst/>
            <a:gdLst/>
            <a:ahLst/>
            <a:cxnLst/>
            <a:rect l="l" t="t" r="r" b="b"/>
            <a:pathLst>
              <a:path w="3521979" h="2749848">
                <a:moveTo>
                  <a:pt x="0" y="0"/>
                </a:moveTo>
                <a:lnTo>
                  <a:pt x="3166388" y="0"/>
                </a:lnTo>
                <a:arcTo wR="355591" hR="355600" stAng="16200000" swAng="5400000"/>
                <a:lnTo>
                  <a:pt x="3521979" y="2749848"/>
                </a:lnTo>
                <a:lnTo>
                  <a:pt x="0" y="2749848"/>
                </a:lnTo>
                <a:lnTo>
                  <a:pt x="0" y="0"/>
                </a:lnTo>
                <a:close/>
              </a:path>
            </a:pathLst>
          </a:cu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6582" y="1656534"/>
            <a:ext cx="3293385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0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6582" y="1918804"/>
            <a:ext cx="3064791" cy="315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5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React UI · Vite · Nginx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36582" y="2402979"/>
            <a:ext cx="507888" cy="38100"/>
          </a:xfrm>
          <a:prstGeom prst="roundRect">
            <a:avLst>
              <a:gd name="adj" fmla="val 4999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6582" y="2597944"/>
            <a:ext cx="3064791" cy="806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React UI and Vite asset builds; Nginx serves static files and proxies API requests.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4759" y="1151434"/>
            <a:ext cx="3522078" cy="2749848"/>
          </a:xfrm>
          <a:prstGeom prst="rect">
            <a:avLst/>
          </a:pr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63353" y="1387850"/>
            <a:ext cx="3293484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0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63353" y="1650120"/>
            <a:ext cx="3064890" cy="315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5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Python · FastAPI</a:t>
            </a:r>
            <a:endParaRPr lang="en-US" sz="2150" dirty="0"/>
          </a:p>
        </p:txBody>
      </p:sp>
      <p:sp>
        <p:nvSpPr>
          <p:cNvPr id="12" name="Shape 10"/>
          <p:cNvSpPr/>
          <p:nvPr/>
        </p:nvSpPr>
        <p:spPr>
          <a:xfrm>
            <a:off x="4563353" y="213429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63353" y="2329259"/>
            <a:ext cx="3064890" cy="1343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FastAPI REST API with Pydantic-style schemas where implemented; SQLAlchemy with PostgreSQL; Alembic migrations; Pytest API tests.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161629" y="1151434"/>
            <a:ext cx="3522078" cy="2749848"/>
          </a:xfrm>
          <a:custGeom>
            <a:avLst/>
            <a:gdLst/>
            <a:ahLst/>
            <a:cxnLst/>
            <a:rect l="l" t="t" r="r" b="b"/>
            <a:pathLst>
              <a:path w="3522078" h="2749848">
                <a:moveTo>
                  <a:pt x="0" y="0"/>
                </a:moveTo>
                <a:lnTo>
                  <a:pt x="3522078" y="0"/>
                </a:lnTo>
                <a:lnTo>
                  <a:pt x="3522078" y="2749848"/>
                </a:lnTo>
                <a:lnTo>
                  <a:pt x="355591" y="2749848"/>
                </a:lnTo>
                <a:arcTo wR="355591" hR="355600" stAng="5400000" swAng="5400000"/>
                <a:lnTo>
                  <a:pt x="0" y="0"/>
                </a:lnTo>
                <a:close/>
              </a:path>
            </a:pathLst>
          </a:cu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90224" y="1522192"/>
            <a:ext cx="3293484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0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DELIVERY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90224" y="1784462"/>
            <a:ext cx="3064890" cy="315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150" kern="100" spc="-11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Build · Deploy · Operate</a:t>
            </a:r>
            <a:endParaRPr lang="en-US" sz="2150" dirty="0"/>
          </a:p>
        </p:txBody>
      </p:sp>
      <p:sp>
        <p:nvSpPr>
          <p:cNvPr id="17" name="Shape 15"/>
          <p:cNvSpPr/>
          <p:nvPr/>
        </p:nvSpPr>
        <p:spPr>
          <a:xfrm>
            <a:off x="8390224" y="2268637"/>
            <a:ext cx="507888" cy="38100"/>
          </a:xfrm>
          <a:prstGeom prst="roundRect">
            <a:avLst>
              <a:gd name="adj" fmla="val 49999"/>
            </a:avLst>
          </a:prstGeom>
          <a:solidFill>
            <a:srgbClr val="30303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90224" y="2463602"/>
            <a:ext cx="3064890" cy="107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Docker · GitHub Actions · GHCR · Kubernetes · Helm · Argo CD · Trivy · the workflow's configured security tools.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7987" y="4072533"/>
            <a:ext cx="6522577" cy="2981325"/>
          </a:xfrm>
          <a:prstGeom prst="rect">
            <a:avLst/>
          </a:prstGeom>
          <a:noFill/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2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535" y="4205883"/>
            <a:ext cx="4404296" cy="243846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335257" y="5334276"/>
            <a:ext cx="4348451" cy="178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0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SECONDARY VIEW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335257" y="5620891"/>
            <a:ext cx="4348451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kern="100" spc="11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MinePulse application running through Kubernetes.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871623" y="6465689"/>
            <a:ext cx="32007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4569"/>
            <a:ext cx="11683708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98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CONTAINER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7987" y="531832"/>
            <a:ext cx="11175720" cy="285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100" b="1" kern="100" spc="-31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Containers make each component portable and traceable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7987" y="905706"/>
            <a:ext cx="11683708" cy="178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Multi-stage Docker builds keep MinePulse images minimal and secure: compilers and package managers never ship into the production runtime.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7987" y="1183980"/>
            <a:ext cx="3725174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98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 · BUILD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7987" y="1369965"/>
            <a:ext cx="3496580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50" kern="100" spc="-8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Node.js build stage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07987" y="1679720"/>
            <a:ext cx="3496580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Installs dependencies with </a:t>
            </a:r>
            <a:r>
              <a:rPr lang="en-US" sz="950" dirty="0">
                <a:solidFill>
                  <a:srgbClr val="F5F5F7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r>
              <a:rPr lang="en-US" sz="9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and runs Vite production compilation, generating optimized, minified static artifacts.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461756" y="1183980"/>
            <a:ext cx="3496679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98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FRONTEND · RUNTIME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461756" y="1369965"/>
            <a:ext cx="3268085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50" kern="100" spc="-8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Nginx serves the app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461756" y="1679720"/>
            <a:ext cx="3268085" cy="46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Nginx Alpine receives compiled static files and custom proxy configuration, serves the files, and proxies the API. Node runtime is excluded.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87029" y="1183980"/>
            <a:ext cx="3496679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98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BACKEND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187029" y="1369965"/>
            <a:ext cx="3496679" cy="23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650" kern="100" spc="-8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Separately built Python API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187029" y="1679720"/>
            <a:ext cx="3496679" cy="309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Python slim image bundles FastAPI, dependencies, Alembic scripts, and database drivers.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7987" y="2242744"/>
            <a:ext cx="11683708" cy="134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00" kern="100" spc="98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PUBLISH · IMMUTABLE GHCR TAGS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87" y="2475454"/>
            <a:ext cx="11683708" cy="154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9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Images are published to GHCR tagged with the Git commit SHA (e.g. </a:t>
            </a:r>
            <a:r>
              <a:rPr lang="en-US" sz="950" dirty="0">
                <a:solidFill>
                  <a:srgbClr val="F5F5F7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:sha-4b2a8f1</a:t>
            </a:r>
            <a:r>
              <a:rPr lang="en-US" sz="9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), giving an unbroken audit trail from running Kubernetes pods back to the exact source commit.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987" y="2724348"/>
            <a:ext cx="5435464" cy="3174206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7" name="Image 0" descr="A screenshot of a computer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346" y="2857698"/>
            <a:ext cx="4470746" cy="2907505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248244" y="2724348"/>
            <a:ext cx="5435464" cy="3174206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507987" y="5996682"/>
            <a:ext cx="11175720" cy="616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800" kern="100" spc="8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 container image published to GHCR</a:t>
            </a:r>
            <a:endParaRPr lang="en-US" sz="800" dirty="0"/>
          </a:p>
          <a:p>
            <a:pPr marL="0" indent="0" algn="l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800" kern="100" spc="8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 container image published to GHCR</a:t>
            </a:r>
            <a:endParaRPr lang="en-US" sz="8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800" b="1" kern="100" spc="8" dirty="0">
                <a:solidFill>
                  <a:srgbClr val="9DB4C1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Sequence:</a:t>
            </a:r>
            <a:r>
              <a:rPr lang="en-US" sz="800" kern="100" spc="8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source code → Docker build → tagged images → GHCR → Kubernetes deployment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07987" y="6714426"/>
            <a:ext cx="11683708" cy="1400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kern="100" spc="8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OCI Packaging Standard · GitHub Container Registry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226811" y="1179612"/>
            <a:ext cx="12700" cy="960636"/>
          </a:xfrm>
          <a:prstGeom prst="rect">
            <a:avLst/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7952085" y="1179612"/>
            <a:ext cx="12700" cy="960636"/>
          </a:xfrm>
          <a:prstGeom prst="rect">
            <a:avLst/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11876584" y="6465689"/>
            <a:ext cx="31511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05</a:t>
            </a:r>
            <a:endParaRPr lang="en-US" sz="950" dirty="0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DC3769-BECE-6347-6FD3-CFDC4ED61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572" y="2858776"/>
            <a:ext cx="4466597" cy="29048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281078"/>
            <a:ext cx="11632909" cy="145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106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DEVSECOPS PIPELINE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58786" y="498944"/>
            <a:ext cx="11074123" cy="308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250" b="1" kern="100" spc="-34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Failed gates stop the pipeline before deployment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58786" y="914992"/>
            <a:ext cx="11632909" cy="17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Actions runs tests and code validation, then applies configured security gates before image publication and Helm deployment to the workflow's temporary Kind environment.</a:t>
            </a:r>
            <a:endParaRPr lang="en-US" sz="1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1198066"/>
            <a:ext cx="381983" cy="3819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786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kern="100" spc="-7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CI checks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58786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Push or workflow dispatch; tests and code validation.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515" y="1198066"/>
            <a:ext cx="381983" cy="3819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3515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kern="100" spc="-7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Security validation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403515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CodeQL, dependency scanning, and secret scanning (as configured in the repository).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244" y="1198066"/>
            <a:ext cx="381983" cy="3819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48244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kern="100" spc="-7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Image publishing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248244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Frontend and backend builds; Trivy severity-based failure gate; push to GHCR.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2973" y="1198066"/>
            <a:ext cx="381983" cy="3819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92973" y="1706471"/>
            <a:ext cx="2539936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kern="100" spc="-7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9092973" y="2001537"/>
            <a:ext cx="2539936" cy="346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Helm deploy into the workflow's temporary Kind environment.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58786" y="2457648"/>
            <a:ext cx="7179488" cy="4357390"/>
          </a:xfrm>
          <a:prstGeom prst="rect">
            <a:avLst/>
          </a:prstGeom>
          <a:solidFill>
            <a:srgbClr val="1E1E23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954" y="2590998"/>
            <a:ext cx="5979151" cy="388848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2133" y="6530756"/>
            <a:ext cx="7046141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kern="100" spc="9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GitHub Actions — latest workflow run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8043066" y="2457648"/>
            <a:ext cx="3589843" cy="4357390"/>
          </a:xfrm>
          <a:custGeom>
            <a:avLst/>
            <a:gdLst/>
            <a:ahLst/>
            <a:cxnLst/>
            <a:rect l="l" t="t" r="r" b="b"/>
            <a:pathLst>
              <a:path w="3589843" h="4357390">
                <a:moveTo>
                  <a:pt x="0" y="0"/>
                </a:moveTo>
                <a:lnTo>
                  <a:pt x="3234252" y="0"/>
                </a:lnTo>
                <a:arcTo wR="355591" hR="355600" stAng="16200000" swAng="5400000"/>
                <a:lnTo>
                  <a:pt x="3589843" y="4357390"/>
                </a:lnTo>
                <a:lnTo>
                  <a:pt x="0" y="4357390"/>
                </a:lnTo>
                <a:lnTo>
                  <a:pt x="0" y="0"/>
                </a:lnTo>
                <a:close/>
              </a:path>
            </a:pathLst>
          </a:custGeom>
          <a:solidFill>
            <a:srgbClr val="1E1E23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21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5462" y="2998925"/>
            <a:ext cx="3285051" cy="213640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95462" y="5600878"/>
            <a:ext cx="3437447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00" kern="100" spc="9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Trivy — container image security scan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8195462" y="5878222"/>
            <a:ext cx="3285051" cy="2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50" kern="100" spc="-7" dirty="0">
                <a:solidFill>
                  <a:srgbClr val="F5F5F7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Strict Downstream Blocking</a:t>
            </a:r>
            <a:endParaRPr lang="en-US" sz="1450" dirty="0"/>
          </a:p>
        </p:txBody>
      </p:sp>
      <p:sp>
        <p:nvSpPr>
          <p:cNvPr id="24" name="Text 16"/>
          <p:cNvSpPr/>
          <p:nvPr/>
        </p:nvSpPr>
        <p:spPr>
          <a:xfrm>
            <a:off x="8195462" y="6173288"/>
            <a:ext cx="3285051" cy="519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Failed quality or security gates block downstream stages where configured, catching problems before deployment.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11873211" y="6465689"/>
            <a:ext cx="31848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0738"/>
            <a:ext cx="11683708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109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ORCHESTRATION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7987" y="560032"/>
            <a:ext cx="11175720" cy="317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300" b="1" kern="100" spc="-35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Helm organizes MinePulse into Kubernetes resources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7987" y="974030"/>
            <a:ext cx="6160239" cy="5608340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7532" y="1158718"/>
            <a:ext cx="5950694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109" dirty="0">
                <a:solidFill>
                  <a:srgbClr val="F5F5F7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ACTIVE CHART WORKLOADS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17532" y="1386582"/>
            <a:ext cx="5741149" cy="1321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Frontend Deployment &amp; ClusterIP Service</a:t>
            </a:r>
            <a:r>
              <a:rPr lang="en-US" sz="12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— Frontend Deployment and Pods; ClusterIP Service for internal networking and discovery.</a:t>
            </a:r>
            <a:endParaRPr lang="en-US" sz="1250" dirty="0"/>
          </a:p>
          <a:p>
            <a:pPr marL="254000" indent="-254000" algn="l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Backend Deployment &amp; ClusterIP Service</a:t>
            </a:r>
            <a:r>
              <a:rPr lang="en-US" sz="12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— Backend Deployment and Pods; ClusterIP Service for internal networking and discovery.</a:t>
            </a:r>
            <a:endParaRPr lang="en-US" sz="1250" dirty="0"/>
          </a:p>
          <a:p>
            <a:pPr marL="254000" indent="-254000" algn="l">
              <a:lnSpc>
                <a:spcPct val="110000"/>
              </a:lnSpc>
              <a:buSzPct val="100000"/>
              <a:buChar char="•"/>
            </a:pPr>
            <a:r>
              <a:rPr lang="en-US" sz="125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PostgreSQL &amp; PersistentVolumeClaim</a:t>
            </a:r>
            <a:r>
              <a:rPr lang="en-US" sz="12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— PostgreSQL deployment with PersistentVolumeClaim storage where configured.</a:t>
            </a:r>
            <a:endParaRPr lang="en-US" sz="1250" dirty="0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197" y="2885777"/>
            <a:ext cx="4965818" cy="322947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7532" y="6242248"/>
            <a:ext cx="595069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9">
                <a:solidFill>
                  <a:srgbClr val="F5F5F7"/>
                </a:solidFill>
                <a:latin typeface="Red Hat Text"/>
                <a:ea typeface="Red Hat Text"/>
                <a:cs typeface="Red Hat Text"/>
              </a:rPr>
              <a:t>Kubernetes workloads, Services </a:t>
            </a:r>
            <a:endParaRPr lang="en-US" sz="900">
              <a:latin typeface="Red Hat Text"/>
              <a:ea typeface="Red Hat Text"/>
              <a:cs typeface="Red Hat Text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972919" y="974030"/>
            <a:ext cx="4710788" cy="5608340"/>
          </a:xfrm>
          <a:custGeom>
            <a:avLst/>
            <a:gdLst/>
            <a:ahLst/>
            <a:cxnLst/>
            <a:rect l="l" t="t" r="r" b="b"/>
            <a:pathLst>
              <a:path w="4710788" h="5608340">
                <a:moveTo>
                  <a:pt x="0" y="0"/>
                </a:moveTo>
                <a:lnTo>
                  <a:pt x="4710788" y="0"/>
                </a:lnTo>
                <a:lnTo>
                  <a:pt x="4710788" y="5608340"/>
                </a:lnTo>
                <a:lnTo>
                  <a:pt x="355591" y="5608340"/>
                </a:lnTo>
                <a:arcTo wR="355591" hR="355600" stAng="5400000" swAng="5400000"/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7182464" y="1158718"/>
            <a:ext cx="4501244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109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HELM TEMPLATES &amp; VALUES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182464" y="1393731"/>
            <a:ext cx="429169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Image tags, replica settings, and health/readiness checks and resource settings only as present in the manifests.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182464" y="1876070"/>
            <a:ext cx="4501244" cy="150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kern="100" spc="109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OPTIONAL FEATURES (NOT CLAIMED AS ENABLED)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182464" y="2111082"/>
            <a:ext cx="4501244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Ingress, Horizontal Pod Autoscaling, and Prometheus ServiceMonitor.</a:t>
            </a:r>
            <a:endParaRPr lang="en-US" sz="1100" dirty="0"/>
          </a:p>
        </p:txBody>
      </p:sp>
      <p:pic>
        <p:nvPicPr>
          <p:cNvPr id="1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464" y="2929810"/>
            <a:ext cx="4291699" cy="2791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82464" y="6242248"/>
            <a:ext cx="450124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9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Helm chart validation — no lint failures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07987" y="6704013"/>
            <a:ext cx="11683708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100" spc="9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Namespaces organize resources; PostgreSQL storage uses a PersistentVolumeClaim where configured.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874897" y="6465689"/>
            <a:ext cx="316798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37185"/>
            <a:ext cx="1168370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CONTINUOUS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23503"/>
            <a:ext cx="11175720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2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Git holds desired state; Argo CD reconciles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171972"/>
            <a:ext cx="7247252" cy="4549378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66733" y="5379323"/>
            <a:ext cx="708850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>
                <a:solidFill>
                  <a:srgbClr val="F5F5F7"/>
                </a:solidFill>
                <a:latin typeface="Red Hat Text"/>
                <a:ea typeface="Red Hat Text"/>
                <a:cs typeface="Red Hat Text"/>
              </a:rPr>
              <a:t>Argo CD </a:t>
            </a:r>
          </a:p>
        </p:txBody>
      </p:sp>
      <p:sp>
        <p:nvSpPr>
          <p:cNvPr id="7" name="Text 4"/>
          <p:cNvSpPr/>
          <p:nvPr/>
        </p:nvSpPr>
        <p:spPr>
          <a:xfrm>
            <a:off x="8161629" y="1255157"/>
            <a:ext cx="352207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GITOPS FLOW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61629" y="1546106"/>
            <a:ext cx="352207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Git repository → Helm chart → Argo CD Application → Kubernetes resources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61629" y="2183011"/>
            <a:ext cx="3521979" cy="31651"/>
          </a:xfrm>
          <a:prstGeom prst="roundRect">
            <a:avLst>
              <a:gd name="adj" fmla="val 49998"/>
            </a:avLst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161629" y="2450059"/>
            <a:ext cx="352207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Local demo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61629" y="2844304"/>
            <a:ext cx="3522078" cy="181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850"/>
              </a:spcAft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Kind cluster; Argo CD runs in its own </a:t>
            </a:r>
            <a:r>
              <a:rPr lang="en-US" sz="1300" dirty="0">
                <a:solidFill>
                  <a:srgbClr val="F5F5F7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argocd</a:t>
            </a: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namespace. The </a:t>
            </a:r>
            <a:r>
              <a:rPr lang="en-US" sz="1300" dirty="0">
                <a:solidFill>
                  <a:srgbClr val="F5F5F7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minepulse-gitops</a:t>
            </a: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Application targets </a:t>
            </a:r>
            <a:r>
              <a:rPr lang="en-US" sz="1300" dirty="0">
                <a:solidFill>
                  <a:srgbClr val="F5F5F7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helm/minepulse</a:t>
            </a: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; resources go to a separate </a:t>
            </a:r>
            <a:r>
              <a:rPr lang="en-US" sz="1300" dirty="0">
                <a:solidFill>
                  <a:srgbClr val="F5F5F7"/>
                </a:solidFill>
                <a:highlight>
                  <a:srgbClr val="15324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minepulse-gitops</a:t>
            </a: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namespace.</a:t>
            </a:r>
            <a:endParaRPr lang="en-US" sz="13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Sync status compares Git with live state; health status reports resource condition. Declarative configuration improves repeatability.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61629" y="4848474"/>
            <a:ext cx="352207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Separate clusters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161629" y="5244783"/>
            <a:ext cx="3522078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3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Argo CD local Kind cluster is separate from the CI workflow's temporary Kind deployment.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874501" y="6465689"/>
            <a:ext cx="317194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08</a:t>
            </a:r>
            <a:endParaRPr lang="en-US" sz="9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48FCFC-AE5D-EA21-1F12-92D27E23C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64" y="1437266"/>
            <a:ext cx="6145100" cy="39586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309149"/>
            <a:ext cx="11683708" cy="115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700" kern="100" spc="84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VERIFICATION MATRIX</a:t>
            </a:r>
            <a:endParaRPr lang="en-US" sz="700" dirty="0"/>
          </a:p>
        </p:txBody>
      </p:sp>
      <p:sp>
        <p:nvSpPr>
          <p:cNvPr id="3" name="Text 1"/>
          <p:cNvSpPr/>
          <p:nvPr/>
        </p:nvSpPr>
        <p:spPr>
          <a:xfrm>
            <a:off x="507987" y="472694"/>
            <a:ext cx="1117572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800" b="1" kern="100" spc="-27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Evidence: what each screenshot proves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87" y="780967"/>
            <a:ext cx="11683708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Each required deliverable is mapped directly to concrete verification evidence confirming end-to-end operational readiness.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7987" y="975916"/>
            <a:ext cx="3521979" cy="2097782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189" y="1109266"/>
            <a:ext cx="2815575" cy="183108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987" y="3122827"/>
            <a:ext cx="3521979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To Do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4334759" y="975916"/>
            <a:ext cx="3522078" cy="2097881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933" y="1109266"/>
            <a:ext cx="2815728" cy="183118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334759" y="3122927"/>
            <a:ext cx="3522078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8161629" y="975916"/>
            <a:ext cx="3522078" cy="2097881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4804" y="1109266"/>
            <a:ext cx="2815728" cy="18311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61629" y="3122927"/>
            <a:ext cx="3522078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Completed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507987" y="3317875"/>
            <a:ext cx="5435464" cy="3174206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346" y="3451225"/>
            <a:ext cx="4470746" cy="29075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07987" y="6541211"/>
            <a:ext cx="5435464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Backend API tests</a:t>
            </a:r>
            <a:endParaRPr lang="en-US" sz="850" dirty="0"/>
          </a:p>
        </p:txBody>
      </p:sp>
      <p:sp>
        <p:nvSpPr>
          <p:cNvPr id="17" name="Shape 11"/>
          <p:cNvSpPr/>
          <p:nvPr/>
        </p:nvSpPr>
        <p:spPr>
          <a:xfrm>
            <a:off x="6248244" y="3317875"/>
            <a:ext cx="5435464" cy="3174206"/>
          </a:xfrm>
          <a:prstGeom prst="rect">
            <a:avLst/>
          </a:prstGeom>
          <a:solidFill>
            <a:srgbClr val="303037"/>
          </a:solidFill>
          <a:ln w="6350">
            <a:solidFill>
              <a:srgbClr val="2B4B60">
                <a:alpha val="26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8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0602" y="3451225"/>
            <a:ext cx="4470746" cy="290750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48244" y="6541211"/>
            <a:ext cx="5435464" cy="125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85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Kubernetes health and API verification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507987" y="6739393"/>
            <a:ext cx="11683708" cy="120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700" kern="100" spc="7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Evaluation Artifacts: Verified on local demonstration environment and GitHub repository logs.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11873012" y="6465689"/>
            <a:ext cx="31868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38785"/>
            <a:ext cx="558786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RETROSPECTIVE &amp;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25103"/>
            <a:ext cx="5181470" cy="767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800" b="1" kern="100" spc="-42" dirty="0">
                <a:solidFill>
                  <a:srgbClr val="35BCC8"/>
                </a:solidFill>
                <a:latin typeface="Red Hat Display Bold" pitchFamily="34" charset="0"/>
                <a:ea typeface="Red Hat Display Bold" pitchFamily="34" charset="-122"/>
                <a:cs typeface="Red Hat Display Bold" pitchFamily="34" charset="-120"/>
              </a:rPr>
              <a:t>Lessons, honest scope and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7987" y="1705173"/>
            <a:ext cx="1066773" cy="76200"/>
          </a:xfrm>
          <a:prstGeom prst="roundRect">
            <a:avLst>
              <a:gd name="adj" fmla="val 49999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7987" y="2177009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Engineering Lessons Learned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2571254"/>
            <a:ext cx="518147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Proxy hostnames:</a:t>
            </a: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Align frontend proxy hostnames with Kubernetes Service names.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Helm naming:</a:t>
            </a: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Understand Helm release names versus generated resource names.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Connectivity:</a:t>
            </a: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Address intermittent DNS and repository connectivity.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b="1" dirty="0">
                <a:solidFill>
                  <a:srgbClr val="F5F5F7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Cluster separation:</a:t>
            </a: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Keep CI's temporary cluster separate from the Argo CD deployment.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7987" y="5655866"/>
            <a:ext cx="5181470" cy="31651"/>
          </a:xfrm>
          <a:prstGeom prst="roundRect">
            <a:avLst>
              <a:gd name="adj" fmla="val 49998"/>
            </a:avLst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7987" y="5916692"/>
            <a:ext cx="5181470" cy="565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11" dirty="0">
                <a:solidFill>
                  <a:srgbClr val="9DB4C1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Conclusion: The project connects application development to automated quality and security checks, container image delivery, Kubernetes deployment and GitOps management.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02237" y="438785"/>
            <a:ext cx="5689458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35BCC8"/>
                </a:solidFill>
                <a:latin typeface="Red Hat Text Medium" pitchFamily="34" charset="0"/>
                <a:ea typeface="Red Hat Text Medium" pitchFamily="34" charset="-122"/>
                <a:cs typeface="Red Hat Text Medium" pitchFamily="34" charset="-120"/>
              </a:rPr>
              <a:t>PRODUCTION ROADMAPPING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02237" y="704206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Honest Current Scope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02237" y="1098451"/>
            <a:ext cx="5181470" cy="175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No AWS deployment is provisioned; any Terraform is infrastructure code only, not applied.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Ingress, autoscaling and Prometheus are optional unless verified.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Move credentials out of plaintext manifests into Kubernetes Secrets or similar; never show values.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2237" y="3021262"/>
            <a:ext cx="518147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800" kern="100" spc="-9" dirty="0">
                <a:solidFill>
                  <a:srgbClr val="35BCC8"/>
                </a:solidFill>
                <a:latin typeface="Red Hat Display SemiBold" pitchFamily="34" charset="0"/>
                <a:ea typeface="Red Hat Display SemiBold" pitchFamily="34" charset="-122"/>
                <a:cs typeface="Red Hat Display SemiBold" pitchFamily="34" charset="-120"/>
              </a:rPr>
              <a:t>Next Production Milestones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02237" y="3415506"/>
            <a:ext cx="5181470" cy="153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Validated configuration reconciliation and stronger secret management.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Tested autoscaling.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Prometheus/Grafana dashboards and alerting.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F5F5F7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Validation on hosted Kubernetes.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89498" y="0"/>
            <a:ext cx="12700" cy="6858000"/>
          </a:xfrm>
          <a:prstGeom prst="rect">
            <a:avLst/>
          </a:prstGeom>
          <a:solidFill>
            <a:srgbClr val="303037">
              <a:alpha val="26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888788" y="6465689"/>
            <a:ext cx="302907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kern="100" spc="38" dirty="0">
                <a:solidFill>
                  <a:srgbClr val="B1C3CF"/>
                </a:solidFill>
                <a:latin typeface="Roboto Slab Medium" pitchFamily="34" charset="0"/>
                <a:ea typeface="Roboto Slab Medium" pitchFamily="34" charset="-122"/>
                <a:cs typeface="Roboto Slab Medium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Film Burn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Film Bu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Film Bu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D87570FC-4836-4BB0-AAFD-165DAAA9EA26}" vid="{EE25A5E3-C8B7-4876-88F1-4A6AC5925E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Film Burn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49</cp:revision>
  <dcterms:created xsi:type="dcterms:W3CDTF">2026-10-14T08:08:05Z</dcterms:created>
  <dcterms:modified xsi:type="dcterms:W3CDTF">2026-10-16T08:41:37Z</dcterms:modified>
</cp:coreProperties>
</file>